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8B802D1-5A24-4399-8658-47A619AD4E3C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cap="none">
              <a:ln>
                <a:noFill/>
              </a:ln>
              <a:latin typeface="DejaVu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cap="none">
              <a:ln>
                <a:noFill/>
              </a:ln>
              <a:latin typeface="DejaVu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cap="none">
              <a:ln>
                <a:noFill/>
              </a:ln>
              <a:latin typeface="DejaVu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DE4C6BB5-B4A6-44CF-9733-46425CEF29EB}" type="slidenum">
              <a:t>‹#›</a:t>
            </a:fld>
            <a:endParaRPr lang="ru-RU" sz="1400" b="0" i="0" u="none" strike="noStrike" kern="1200" cap="none">
              <a:ln>
                <a:noFill/>
              </a:ln>
              <a:latin typeface="DejaVu Sans" pitchFamily="18"/>
              <a:ea typeface="Noto Sans CJK SC" pitchFamily="2"/>
              <a:cs typeface="Noto Sans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200337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DejaVu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DejaVu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DejaVu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DejaVu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7E197371-A165-4BC5-9FCF-57324C5147F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806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-216000" rtl="0" hangingPunct="0">
      <a:tabLst/>
      <a:defRPr lang="ru-RU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DejaVu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4C5DF9F-9390-4ED5-8A6D-2A6B264B1711}" type="slidenum">
              <a:t>1</a:t>
            </a:fld>
            <a:endParaRPr lang="ru-RU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E4EA57B-AEB9-4B0E-A0EA-582AA87D1774}" type="slidenum">
              <a:t>2</a:t>
            </a:fld>
            <a:endParaRPr lang="ru-RU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4192A3B-00BE-4B1B-981E-D2823C504B71}" type="slidenum">
              <a:t>3</a:t>
            </a:fld>
            <a:endParaRPr lang="ru-RU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5C599B2-50FC-436B-B612-0495D3E2FA3E}" type="slidenum">
              <a:t>4</a:t>
            </a:fld>
            <a:endParaRPr lang="ru-RU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E26FCD9-333C-4108-9344-70ECF9C922B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420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219AE10-8D64-4C7B-9B2A-A413514AA5C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649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E9E8C9D-FF77-4343-AE67-48853133934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463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9086AB-93CB-48ED-8558-DD613E4C7D1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80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C013B1E-6D25-4B98-A38B-60A906B9ED0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68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62691C0-9AB5-403B-BEEA-4BDEFF0BFB7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087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B965C7-2F8D-4B02-9863-7E9A8DB636C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042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1A06F5E-A2D9-485F-9482-08F95B46A99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084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BF0B0B5-7930-4C10-9C7C-A6CFB46238B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325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668BD6E-8514-46A1-BF50-54FAD2C9B3C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637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184000F-0F24-4559-B214-DAEEA2562F7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849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DejaVu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DejaVu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DejaVu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870D03AC-DBB3-4B05-9212-60FF065534CD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ru-RU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DejaVu Sans" pitchFamily="18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DejaVu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ru-RU"/>
              <a:t>СКУД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/>
        <p:txBody>
          <a:bodyPr vert="horz" anchor="ctr"/>
          <a:lstStyle/>
          <a:p>
            <a:pPr lvl="0" algn="ctr"/>
            <a:r>
              <a:rPr lang="ru-RU"/>
              <a:t>Неделя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788360" y="1290960"/>
          <a:ext cx="5164560" cy="3170160"/>
        </p:xfrm>
        <a:graphic>
          <a:graphicData uri="http://schemas.openxmlformats.org/drawingml/2006/table">
            <a:tbl>
              <a:tblPr firstRow="1" bandRow="1">
                <a:tableStyleId>{D8B802D1-5A24-4399-8658-47A619AD4E3C}</a:tableStyleId>
              </a:tblPr>
              <a:tblGrid>
                <a:gridCol w="860399">
                  <a:extLst>
                    <a:ext uri="{9D8B030D-6E8A-4147-A177-3AD203B41FA5}">
                      <a16:colId xmlns:a16="http://schemas.microsoft.com/office/drawing/2014/main" val="2042342135"/>
                    </a:ext>
                  </a:extLst>
                </a:gridCol>
                <a:gridCol w="860399">
                  <a:extLst>
                    <a:ext uri="{9D8B030D-6E8A-4147-A177-3AD203B41FA5}">
                      <a16:colId xmlns:a16="http://schemas.microsoft.com/office/drawing/2014/main" val="2060605150"/>
                    </a:ext>
                  </a:extLst>
                </a:gridCol>
                <a:gridCol w="860399">
                  <a:extLst>
                    <a:ext uri="{9D8B030D-6E8A-4147-A177-3AD203B41FA5}">
                      <a16:colId xmlns:a16="http://schemas.microsoft.com/office/drawing/2014/main" val="3263686222"/>
                    </a:ext>
                  </a:extLst>
                </a:gridCol>
                <a:gridCol w="860399">
                  <a:extLst>
                    <a:ext uri="{9D8B030D-6E8A-4147-A177-3AD203B41FA5}">
                      <a16:colId xmlns:a16="http://schemas.microsoft.com/office/drawing/2014/main" val="3983350427"/>
                    </a:ext>
                  </a:extLst>
                </a:gridCol>
                <a:gridCol w="860399">
                  <a:extLst>
                    <a:ext uri="{9D8B030D-6E8A-4147-A177-3AD203B41FA5}">
                      <a16:colId xmlns:a16="http://schemas.microsoft.com/office/drawing/2014/main" val="3219330771"/>
                    </a:ext>
                  </a:extLst>
                </a:gridCol>
                <a:gridCol w="862919">
                  <a:extLst>
                    <a:ext uri="{9D8B030D-6E8A-4147-A177-3AD203B41FA5}">
                      <a16:colId xmlns:a16="http://schemas.microsoft.com/office/drawing/2014/main" val="2265644292"/>
                    </a:ext>
                  </a:extLst>
                </a:gridCol>
              </a:tblGrid>
              <a:tr h="312480"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Детектор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Скорость (процессор)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Точность на сложных сценах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Размер модели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Ключевые точки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Вывод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881167"/>
                  </a:ext>
                </a:extLst>
              </a:tr>
              <a:tr h="530640"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Haar (каскады)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Быстро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Низкая — пропускает лица при повороте и плохом свете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Очень маленькая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Устарел, только для сравнения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027515"/>
                  </a:ext>
                </a:extLst>
              </a:tr>
              <a:tr h="530640"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HOG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Средне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Средняя — работает только на фронтальных лицах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Маленькая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Не подходит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742466"/>
                  </a:ext>
                </a:extLst>
              </a:tr>
              <a:tr h="421560"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MTCNN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Медленно (до секунд на кадр)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Высокая — находит почти все лица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5 точек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Точный, но слишком медленный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296674"/>
                  </a:ext>
                </a:extLst>
              </a:tr>
              <a:tr h="421560"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RetinaFace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Очень медленно (около 4 секунд на лицо)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Максимальная — лучший результат среди всех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Большая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5 точек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Эталон точности, не для малого устройства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946221"/>
                  </a:ext>
                </a:extLst>
              </a:tr>
              <a:tr h="530640"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SCRFD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Средне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Очень высокая — лишь немного уступает RetinaFace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10 МБ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5 точек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Хорош, но тяжелее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680949"/>
                  </a:ext>
                </a:extLst>
              </a:tr>
              <a:tr h="423000"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YuNet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Очень быстро (0.03 секунды на лицо)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Хорошая — достаточно для контроля доступа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0.3 МБ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5 точек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hangingPunct="0">
                        <a:lnSpc>
                          <a:spcPct val="100000"/>
                        </a:lnSpc>
                        <a:spcBef>
                          <a:spcPts val="675"/>
                        </a:spcBef>
                        <a:spcAft>
                          <a:spcPts val="561"/>
                        </a:spcAft>
                        <a:buNone/>
                        <a:tabLst/>
                        <a:defRPr sz="570"/>
                      </a:pPr>
                      <a:r>
                        <a:rPr lang="ru-RU" sz="570" b="0" i="0" u="none" strike="noStrike" kern="1200" cap="none">
                          <a:ln>
                            <a:noFill/>
                          </a:ln>
                          <a:latin typeface="DejaVu Sans" pitchFamily="18"/>
                          <a:ea typeface="Noto Sans CJK SC" pitchFamily="2"/>
                          <a:cs typeface="Noto Sans Devanagari" pitchFamily="2"/>
                        </a:rPr>
                        <a:t>Выбор для проекта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185137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60000" y="2880000"/>
            <a:ext cx="3780000" cy="151811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Вывод: YuNet — оптимальный баланс скорости, точности и размера для платы Orange Pi 5. При сжатии модели до 8 бит теряет всего 0.3% точности, что важно для нейронного процессора. SCRFD — запасной вариант, если точности YuNet не хватит. RetinaFace — только как эталон для сравнения.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9080" y="1800000"/>
            <a:ext cx="4120919" cy="82979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Задача: выбрать детектор для системы контроля доступа на маломощном устройстве.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80000"/>
            <a:ext cx="9360000" cy="715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1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200"/>
            </a:pPr>
            <a:r>
              <a:rPr lang="ru-RU" sz="22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Выбор модели захвата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540000"/>
            <a:ext cx="6300000" cy="4545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Ключевые решения: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Выравнивание по 5 точкам — иначе распознаватель получает кривое лицо и вектор «плавает»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Аффинное преобразование с устойчивым методом — меньше чувствительность к шуму в точках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Размер кропа 112×112 — стандарт для ArcFace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endParaRPr lang="ru-RU" sz="1000" b="0" i="0" u="none" strike="noStrike" kern="1200" cap="none">
              <a:ln>
                <a:noFill/>
              </a:ln>
              <a:latin typeface="DejaVu Sans" pitchFamily="18"/>
              <a:ea typeface="Noto Sans CJK SC" pitchFamily="2"/>
              <a:cs typeface="Noto Sans Devanagari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endParaRPr lang="ru-RU" sz="1000" b="0" i="0" u="none" strike="noStrike" kern="1200" cap="none">
              <a:ln>
                <a:noFill/>
              </a:ln>
              <a:latin typeface="DejaVu Sans" pitchFamily="18"/>
              <a:ea typeface="Noto Sans CJK SC" pitchFamily="2"/>
              <a:cs typeface="Noto Sans Devanagari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Что проверено: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Детектор работает на CPU, скорости достаточно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Выравнивание корректно (эталонные точки совпадают с глазами и носом)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Векторы одного лица стабильны (сходство ≥ 0.9 между кадрами)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Артефакт: детектор и распознаватель на ПК.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endParaRPr lang="ru-RU" sz="1000" b="0" i="0" u="none" strike="noStrike" kern="1200" cap="none">
              <a:ln>
                <a:noFill/>
              </a:ln>
              <a:latin typeface="DejaVu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0000" y="2107080"/>
            <a:ext cx="3364560" cy="149291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500"/>
            </a:pPr>
            <a:r>
              <a:rPr lang="ru-RU" sz="15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кадр →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500"/>
            </a:pPr>
            <a:r>
              <a:rPr lang="ru-RU" sz="15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YuNet (рамка + 5 точек) →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500"/>
            </a:pPr>
            <a:r>
              <a:rPr lang="ru-RU" sz="15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выравнивание лица → кроп 112×112 →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500"/>
            </a:pPr>
            <a:r>
              <a:rPr lang="ru-RU" sz="15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ArcFace →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500"/>
            </a:pPr>
            <a:r>
              <a:rPr lang="ru-RU" sz="15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вектор 512 чисел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75960"/>
            <a:ext cx="9000000" cy="5324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Сделано: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Обзор шести детекторов, выбор YuNet с обоснованием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Запуск YuNet через OpenCV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Загрузка и запуск ArcFace: подготовка входа, получение вектора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Выравнивание по 5 точкам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endParaRPr lang="ru-RU" sz="1000" b="0" i="0" u="none" strike="noStrike" kern="1200" cap="none">
              <a:ln>
                <a:noFill/>
              </a:ln>
              <a:latin typeface="DejaVu Sans" pitchFamily="18"/>
              <a:ea typeface="Noto Sans CJK SC" pitchFamily="2"/>
              <a:cs typeface="Noto Sans Devanagari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Проблемы и риски: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Формат входа ArcFace требует проверки (порядок осей)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Порог сходства требует калибровки на своём наборе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Мелкие лица (меньше 80 пикселей) — отсеивать, иначе вектор плохой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endParaRPr lang="ru-RU" sz="1000" b="0" i="0" u="none" strike="noStrike" kern="1200" cap="none">
              <a:ln>
                <a:noFill/>
              </a:ln>
              <a:latin typeface="DejaVu Sans" pitchFamily="18"/>
              <a:ea typeface="Noto Sans CJK SC" pitchFamily="2"/>
              <a:cs typeface="Noto Sans Devanagari" pitchFamily="2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План на следующую неделю: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Сборка полной последовательности: захват → детекция → выравнивание → вектор → сравнение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Модуль базы данных: пользователи, векторы, события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Модуль управления доступом с абстракцией замка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Программный интерфейс для веб-панели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ru-RU" sz="1000" b="0" i="0" u="none" strike="noStrike" kern="1200" cap="none">
                <a:ln>
                  <a:noFill/>
                </a:ln>
                <a:latin typeface="DejaVu Sans" pitchFamily="18"/>
                <a:ea typeface="Noto Sans CJK SC" pitchFamily="2"/>
                <a:cs typeface="Noto Sans Devanagari" pitchFamily="2"/>
              </a:rPr>
              <a:t>Приёмка Orange Pi 5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endParaRPr lang="ru-RU" sz="1000" b="0" i="0" u="none" strike="noStrike" kern="1200" cap="none">
              <a:ln>
                <a:noFill/>
              </a:ln>
              <a:latin typeface="DejaVu Sans" pitchFamily="18"/>
              <a:ea typeface="Noto Sans CJK SC" pitchFamily="2"/>
              <a:cs typeface="Noto Sans Devanagari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412</Words>
  <Application>Microsoft Office PowerPoint</Application>
  <PresentationFormat>Widescreen</PresentationFormat>
  <Paragraphs>84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DejaVu Sans</vt:lpstr>
      <vt:lpstr>DejaVu Serif</vt:lpstr>
      <vt:lpstr>Noto Sans</vt:lpstr>
      <vt:lpstr>Noto Sans CJK SC</vt:lpstr>
      <vt:lpstr>Noto Sans Devanagari</vt:lpstr>
      <vt:lpstr>Default</vt:lpstr>
      <vt:lpstr>СКУД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СКУД</dc:title>
  <cp:lastModifiedBy>word</cp:lastModifiedBy>
  <cp:revision>1</cp:revision>
  <dcterms:created xsi:type="dcterms:W3CDTF">2026-10-29T12:38:34Z</dcterms:created>
  <dcterms:modified xsi:type="dcterms:W3CDTF">2026-10-29T10:03:16Z</dcterms:modified>
</cp:coreProperties>
</file>