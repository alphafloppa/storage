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Calibri" panose="020F0502020204030204" pitchFamily="34" charset="0"/>
      <p:regular r:id="rId11"/>
      <p:bold r:id="rId12"/>
      <p:italic r:id="rId13"/>
      <p:boldItalic r:id="rId14"/>
    </p:embeddedFont>
    <p:embeddedFont>
      <p:font typeface="Calibri Light" panose="020F0302020204030204" pitchFamily="34" charset="0"/>
      <p:regular r:id="rId15"/>
      <p:italic r:id="rId16"/>
    </p:embeddedFont>
    <p:embeddedFont>
      <p:font typeface="Roboto" panose="02000000000000000000" pitchFamily="2" charset="0"/>
      <p:regular r:id="rId17"/>
      <p:bold r:id="rId18"/>
      <p:italic r:id="rId19"/>
      <p:boldItalic r:id="rId20"/>
    </p:embeddedFont>
    <p:embeddedFont>
      <p:font typeface="Roboto Mono Medium" panose="020B0604020202020204" charset="0"/>
      <p:regular r:id="rId21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19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2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6969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1030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1212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79069"/>
            <a:ext cx="61243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Государство Лесото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128010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Жемчужина Южной Африки</a:t>
            </a:r>
            <a:endParaRPr lang="en-US" sz="6150" dirty="0"/>
          </a:p>
        </p:txBody>
      </p:sp>
      <p:sp>
        <p:nvSpPr>
          <p:cNvPr id="5" name="Text 2"/>
          <p:cNvSpPr/>
          <p:nvPr/>
        </p:nvSpPr>
        <p:spPr>
          <a:xfrm>
            <a:off x="793790" y="5424607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Маленькое горное королевство, полностью окружённое территорией ЮАР — одно из самых уникальных государств на планете.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22916" y="513517"/>
            <a:ext cx="5379125" cy="533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Королевство в небесах</a:t>
            </a:r>
            <a:endParaRPr lang="en-US" sz="3350" dirty="0"/>
          </a:p>
        </p:txBody>
      </p:sp>
      <p:sp>
        <p:nvSpPr>
          <p:cNvPr id="3" name="Shape 1"/>
          <p:cNvSpPr/>
          <p:nvPr/>
        </p:nvSpPr>
        <p:spPr>
          <a:xfrm>
            <a:off x="1422916" y="1304330"/>
            <a:ext cx="1801058" cy="293965"/>
          </a:xfrm>
          <a:prstGeom prst="roundRect">
            <a:avLst>
              <a:gd name="adj" fmla="val 6972"/>
            </a:avLst>
          </a:prstGeom>
          <a:solidFill>
            <a:srgbClr val="3D4D00"/>
          </a:solidFill>
          <a:ln/>
        </p:spPr>
      </p:sp>
      <p:sp>
        <p:nvSpPr>
          <p:cNvPr id="4" name="Text 2"/>
          <p:cNvSpPr/>
          <p:nvPr/>
        </p:nvSpPr>
        <p:spPr>
          <a:xfrm>
            <a:off x="1525310" y="1355527"/>
            <a:ext cx="1596271" cy="1915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ГЕОГРАФИЯ И ПРИРОДА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422916" y="3633073"/>
            <a:ext cx="2560796" cy="2668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Уникальное положение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22916" y="4028480"/>
            <a:ext cx="5683806" cy="957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Лесото — одно из трёх государств-анклавов в мире, полностью окружённое другой страной. Вся территория расположена выше 1 400 м над уровнем моря, а средняя высота — около 2 200 м. За это Лесото называют </a:t>
            </a:r>
            <a:r>
              <a:rPr lang="en-US" sz="13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«Королевством в небесах»</a:t>
            </a: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22916" y="5101471"/>
            <a:ext cx="5683806" cy="807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Площадь: 30 355 км²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Высшая точка: пик Тхабана-Нтленьяна — 3 482 м</a:t>
            </a:r>
            <a:endParaRPr lang="en-US" sz="1300" dirty="0"/>
          </a:p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3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Столица: Масеру (около 330 000 жителей)</a:t>
            </a:r>
            <a:endParaRPr lang="en-US" sz="13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1060" y="1887617"/>
            <a:ext cx="5683806" cy="5683806"/>
          </a:xfrm>
          <a:prstGeom prst="rect">
            <a:avLst/>
          </a:prstGeom>
        </p:spPr>
      </p:pic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1060" y="1887617"/>
            <a:ext cx="5683806" cy="568380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253" y="860822"/>
            <a:ext cx="7437953" cy="619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От племён к независимости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694253" y="1827490"/>
            <a:ext cx="967740" cy="356711"/>
          </a:xfrm>
          <a:prstGeom prst="roundRect">
            <a:avLst>
              <a:gd name="adj" fmla="val 6673"/>
            </a:avLst>
          </a:prstGeom>
          <a:solidFill>
            <a:srgbClr val="3D4D00"/>
          </a:solidFill>
          <a:ln/>
        </p:spPr>
      </p:sp>
      <p:sp>
        <p:nvSpPr>
          <p:cNvPr id="4" name="Text 2"/>
          <p:cNvSpPr/>
          <p:nvPr/>
        </p:nvSpPr>
        <p:spPr>
          <a:xfrm>
            <a:off x="813197" y="1886903"/>
            <a:ext cx="729853" cy="237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ИСТОРИЯ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94253" y="4479012"/>
            <a:ext cx="13241893" cy="22860"/>
          </a:xfrm>
          <a:prstGeom prst="roundRect">
            <a:avLst>
              <a:gd name="adj" fmla="val 130157"/>
            </a:avLst>
          </a:prstGeom>
          <a:solidFill>
            <a:srgbClr val="595959"/>
          </a:solidFill>
          <a:ln/>
        </p:spPr>
      </p:sp>
      <p:sp>
        <p:nvSpPr>
          <p:cNvPr id="6" name="Shape 4"/>
          <p:cNvSpPr/>
          <p:nvPr/>
        </p:nvSpPr>
        <p:spPr>
          <a:xfrm>
            <a:off x="3266123" y="3883938"/>
            <a:ext cx="22860" cy="595074"/>
          </a:xfrm>
          <a:prstGeom prst="roundRect">
            <a:avLst>
              <a:gd name="adj" fmla="val 130157"/>
            </a:avLst>
          </a:prstGeom>
          <a:solidFill>
            <a:srgbClr val="595959"/>
          </a:solidFill>
          <a:ln/>
        </p:spPr>
      </p:sp>
      <p:sp>
        <p:nvSpPr>
          <p:cNvPr id="7" name="Shape 5"/>
          <p:cNvSpPr/>
          <p:nvPr/>
        </p:nvSpPr>
        <p:spPr>
          <a:xfrm>
            <a:off x="3054429" y="4255889"/>
            <a:ext cx="446246" cy="446246"/>
          </a:xfrm>
          <a:prstGeom prst="roundRect">
            <a:avLst>
              <a:gd name="adj" fmla="val 6668"/>
            </a:avLst>
          </a:prstGeom>
          <a:solidFill>
            <a:srgbClr val="404040"/>
          </a:solidFill>
          <a:ln/>
        </p:spPr>
      </p:sp>
      <p:sp>
        <p:nvSpPr>
          <p:cNvPr id="8" name="Text 6"/>
          <p:cNvSpPr/>
          <p:nvPr/>
        </p:nvSpPr>
        <p:spPr>
          <a:xfrm>
            <a:off x="3128784" y="4293096"/>
            <a:ext cx="297537" cy="371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2037755" y="2379345"/>
            <a:ext cx="2479477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1820-е гг.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892612" y="2793325"/>
            <a:ext cx="4769882" cy="892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Вождь Мошешше I объединяет разрозненные племена басото, основывая нацию на горе Тхаба-Бозиу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957768" y="4479012"/>
            <a:ext cx="22860" cy="595074"/>
          </a:xfrm>
          <a:prstGeom prst="roundRect">
            <a:avLst>
              <a:gd name="adj" fmla="val 130157"/>
            </a:avLst>
          </a:prstGeom>
          <a:solidFill>
            <a:srgbClr val="595959"/>
          </a:solidFill>
          <a:ln/>
        </p:spPr>
      </p:sp>
      <p:sp>
        <p:nvSpPr>
          <p:cNvPr id="12" name="Shape 10"/>
          <p:cNvSpPr/>
          <p:nvPr/>
        </p:nvSpPr>
        <p:spPr>
          <a:xfrm>
            <a:off x="5746075" y="4255889"/>
            <a:ext cx="446246" cy="446246"/>
          </a:xfrm>
          <a:prstGeom prst="roundRect">
            <a:avLst>
              <a:gd name="adj" fmla="val 6668"/>
            </a:avLst>
          </a:prstGeom>
          <a:solidFill>
            <a:srgbClr val="404040"/>
          </a:solidFill>
          <a:ln/>
        </p:spPr>
      </p:sp>
      <p:sp>
        <p:nvSpPr>
          <p:cNvPr id="13" name="Text 11"/>
          <p:cNvSpPr/>
          <p:nvPr/>
        </p:nvSpPr>
        <p:spPr>
          <a:xfrm>
            <a:off x="5820430" y="4293096"/>
            <a:ext cx="297537" cy="371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4729520" y="5272445"/>
            <a:ext cx="2479477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1868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3584258" y="5686425"/>
            <a:ext cx="4770001" cy="892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Провозглашение протектората Великобритании — Басутоленд. Это уберегло народ от поглощения бурскими республиками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649533" y="3883938"/>
            <a:ext cx="22860" cy="595074"/>
          </a:xfrm>
          <a:prstGeom prst="roundRect">
            <a:avLst>
              <a:gd name="adj" fmla="val 130157"/>
            </a:avLst>
          </a:prstGeom>
          <a:solidFill>
            <a:srgbClr val="595959"/>
          </a:solidFill>
          <a:ln/>
        </p:spPr>
      </p:sp>
      <p:sp>
        <p:nvSpPr>
          <p:cNvPr id="17" name="Shape 15"/>
          <p:cNvSpPr/>
          <p:nvPr/>
        </p:nvSpPr>
        <p:spPr>
          <a:xfrm>
            <a:off x="8437840" y="4255889"/>
            <a:ext cx="446246" cy="446246"/>
          </a:xfrm>
          <a:prstGeom prst="roundRect">
            <a:avLst>
              <a:gd name="adj" fmla="val 6668"/>
            </a:avLst>
          </a:prstGeom>
          <a:solidFill>
            <a:srgbClr val="404040"/>
          </a:solidFill>
          <a:ln/>
        </p:spPr>
      </p:sp>
      <p:sp>
        <p:nvSpPr>
          <p:cNvPr id="18" name="Text 16"/>
          <p:cNvSpPr/>
          <p:nvPr/>
        </p:nvSpPr>
        <p:spPr>
          <a:xfrm>
            <a:off x="8512195" y="4293096"/>
            <a:ext cx="297537" cy="371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7421285" y="2379345"/>
            <a:ext cx="2479477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1966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6276023" y="2793325"/>
            <a:ext cx="4770001" cy="892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октября — День независимости. Лесото стало суверенным королевством в составе Содружества наций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11341298" y="4479012"/>
            <a:ext cx="22860" cy="595074"/>
          </a:xfrm>
          <a:prstGeom prst="roundRect">
            <a:avLst>
              <a:gd name="adj" fmla="val 130157"/>
            </a:avLst>
          </a:prstGeom>
          <a:solidFill>
            <a:srgbClr val="595959"/>
          </a:solidFill>
          <a:ln/>
        </p:spPr>
      </p:sp>
      <p:sp>
        <p:nvSpPr>
          <p:cNvPr id="22" name="Shape 20"/>
          <p:cNvSpPr/>
          <p:nvPr/>
        </p:nvSpPr>
        <p:spPr>
          <a:xfrm>
            <a:off x="11129605" y="4255889"/>
            <a:ext cx="446246" cy="446246"/>
          </a:xfrm>
          <a:prstGeom prst="roundRect">
            <a:avLst>
              <a:gd name="adj" fmla="val 6668"/>
            </a:avLst>
          </a:prstGeom>
          <a:solidFill>
            <a:srgbClr val="404040"/>
          </a:solidFill>
          <a:ln/>
        </p:spPr>
      </p:sp>
      <p:sp>
        <p:nvSpPr>
          <p:cNvPr id="23" name="Text 21"/>
          <p:cNvSpPr/>
          <p:nvPr/>
        </p:nvSpPr>
        <p:spPr>
          <a:xfrm>
            <a:off x="11203960" y="4293096"/>
            <a:ext cx="297537" cy="3718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4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10113050" y="5272445"/>
            <a:ext cx="2479477" cy="309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1990–2000-е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8967788" y="5686425"/>
            <a:ext cx="4770001" cy="892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Серия государственных переворотов и политических кризисов, переход к стабильной конституционной монархии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94253" y="6773823"/>
            <a:ext cx="13241893" cy="594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Ключевую роль в формировании нации сыграл король Мошешше I — дипломат и стратег, сумевший сохранить народ в эпоху войн и колонизации.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6032" y="1197054"/>
            <a:ext cx="5996821" cy="567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Традиции народа басото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636032" y="1983343"/>
            <a:ext cx="1955363" cy="318254"/>
          </a:xfrm>
          <a:prstGeom prst="roundRect">
            <a:avLst>
              <a:gd name="adj" fmla="val 6852"/>
            </a:avLst>
          </a:prstGeom>
          <a:solidFill>
            <a:srgbClr val="3D4D00"/>
          </a:solidFill>
          <a:ln/>
        </p:spPr>
      </p:sp>
      <p:sp>
        <p:nvSpPr>
          <p:cNvPr id="5" name="Text 2"/>
          <p:cNvSpPr/>
          <p:nvPr/>
        </p:nvSpPr>
        <p:spPr>
          <a:xfrm>
            <a:off x="744974" y="2037755"/>
            <a:ext cx="1737479" cy="20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НАСЕЛЕНИЕ И КУЛЬТУРА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36032" y="2610803"/>
            <a:ext cx="2271593" cy="283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Народ и язык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36032" y="3040261"/>
            <a:ext cx="3714274" cy="1570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Население — около </a:t>
            </a:r>
            <a:r>
              <a:rPr lang="en-US" sz="14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2,2 млн человек</a:t>
            </a: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Более 99% составляют этнические басото. Официальные языки — </a:t>
            </a:r>
            <a:r>
              <a:rPr lang="en-US" sz="14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сесото</a:t>
            </a: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и английский. Уровень грамотности — один из наиболее высоких в Африке южнее Сахары (около 80%).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36032" y="4755952"/>
            <a:ext cx="2271593" cy="283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Символы культуры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36032" y="5185410"/>
            <a:ext cx="3714274" cy="1672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Шерстяное одеяло </a:t>
            </a:r>
            <a:r>
              <a:rPr lang="en-US" sz="1400" i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мохеа</a:t>
            </a: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неотъемлемый элемент одежды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Коническая шляпа </a:t>
            </a:r>
            <a:r>
              <a:rPr lang="en-US" sz="1400" i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мохокло</a:t>
            </a: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национальный символ</a:t>
            </a:r>
            <a:endParaRPr lang="en-US" sz="1400" dirty="0"/>
          </a:p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Богатая традиция устной поэзии и пения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801314" y="2629019"/>
            <a:ext cx="3714274" cy="1316236"/>
          </a:xfrm>
          <a:prstGeom prst="roundRect">
            <a:avLst>
              <a:gd name="adj" fmla="val 2071"/>
            </a:avLst>
          </a:prstGeom>
          <a:solidFill>
            <a:srgbClr val="404040"/>
          </a:solidFill>
          <a:ln/>
        </p:spPr>
      </p:sp>
      <p:sp>
        <p:nvSpPr>
          <p:cNvPr id="11" name="Text 8"/>
          <p:cNvSpPr/>
          <p:nvPr/>
        </p:nvSpPr>
        <p:spPr>
          <a:xfrm>
            <a:off x="4983004" y="2810708"/>
            <a:ext cx="2271593" cy="283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Религия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4983004" y="3240167"/>
            <a:ext cx="3350895" cy="523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~80% — христиане, традиционные верования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801314" y="4090749"/>
            <a:ext cx="3714274" cy="1316236"/>
          </a:xfrm>
          <a:prstGeom prst="roundRect">
            <a:avLst>
              <a:gd name="adj" fmla="val 2071"/>
            </a:avLst>
          </a:prstGeom>
          <a:solidFill>
            <a:srgbClr val="404040"/>
          </a:solidFill>
          <a:ln/>
        </p:spPr>
      </p:sp>
      <p:sp>
        <p:nvSpPr>
          <p:cNvPr id="14" name="Text 11"/>
          <p:cNvSpPr/>
          <p:nvPr/>
        </p:nvSpPr>
        <p:spPr>
          <a:xfrm>
            <a:off x="4983004" y="4272439"/>
            <a:ext cx="2271593" cy="283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Традиции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4983004" y="4701897"/>
            <a:ext cx="3350895" cy="523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Инициация юношей — </a:t>
            </a:r>
            <a:r>
              <a:rPr lang="en-US" sz="1400" i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леболло</a:t>
            </a: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ключевой обряд взросления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801314" y="5552480"/>
            <a:ext cx="3714274" cy="1316236"/>
          </a:xfrm>
          <a:prstGeom prst="roundRect">
            <a:avLst>
              <a:gd name="adj" fmla="val 2071"/>
            </a:avLst>
          </a:prstGeom>
          <a:solidFill>
            <a:srgbClr val="404040"/>
          </a:solidFill>
          <a:ln/>
        </p:spPr>
      </p:sp>
      <p:sp>
        <p:nvSpPr>
          <p:cNvPr id="17" name="Text 14"/>
          <p:cNvSpPr/>
          <p:nvPr/>
        </p:nvSpPr>
        <p:spPr>
          <a:xfrm>
            <a:off x="4983004" y="5734169"/>
            <a:ext cx="2271593" cy="2839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Искусство</a:t>
            </a:r>
            <a:endParaRPr lang="en-US" sz="1750" dirty="0"/>
          </a:p>
        </p:txBody>
      </p:sp>
      <p:sp>
        <p:nvSpPr>
          <p:cNvPr id="18" name="Text 15"/>
          <p:cNvSpPr/>
          <p:nvPr/>
        </p:nvSpPr>
        <p:spPr>
          <a:xfrm>
            <a:off x="4983004" y="6163628"/>
            <a:ext cx="3350895" cy="523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Наскальная живопись бушменов — до 4000 лет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1514" y="1396484"/>
            <a:ext cx="11099244" cy="608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Государственное устройство и экономика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81514" y="2339221"/>
            <a:ext cx="2042993" cy="348139"/>
          </a:xfrm>
          <a:prstGeom prst="roundRect">
            <a:avLst>
              <a:gd name="adj" fmla="val 6712"/>
            </a:avLst>
          </a:prstGeom>
          <a:solidFill>
            <a:srgbClr val="3D4D00"/>
          </a:solidFill>
          <a:ln/>
        </p:spPr>
      </p:sp>
      <p:sp>
        <p:nvSpPr>
          <p:cNvPr id="4" name="Text 2"/>
          <p:cNvSpPr/>
          <p:nvPr/>
        </p:nvSpPr>
        <p:spPr>
          <a:xfrm>
            <a:off x="798314" y="2397562"/>
            <a:ext cx="1809393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ПОЛИТИКА И РАЗВИТИЕ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1514" y="3042404"/>
            <a:ext cx="2920841" cy="304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Политическая система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81514" y="3513653"/>
            <a:ext cx="6396157" cy="8679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Лесото — </a:t>
            </a:r>
            <a:r>
              <a:rPr lang="en-US" sz="15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конституционная монархия</a:t>
            </a: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Действующий король — </a:t>
            </a:r>
            <a:r>
              <a:rPr lang="en-US" sz="1500" b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Лецие III</a:t>
            </a: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Исполнительная власть принадлежит премьер-министру, законодательная — двухпалатному парламенту.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1514" y="4548664"/>
            <a:ext cx="2433995" cy="3042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Экономика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81514" y="5019913"/>
            <a:ext cx="6396157" cy="13326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ВВП на душу населения — около $1 100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Главные отрасли: текстиль, горная добыча алмазов, туризм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Экспорт воды в ЮАР — важная статья дохода</a:t>
            </a:r>
            <a:endParaRPr lang="en-US" sz="1500" dirty="0"/>
          </a:p>
          <a:p>
            <a:pPr marL="342900" indent="-342900" algn="l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Высокая зависимость от денежных переводов мигрантов</a:t>
            </a:r>
            <a:endParaRPr lang="en-US" sz="15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349" y="2397562"/>
            <a:ext cx="7919307" cy="439729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670065" y="5838959"/>
            <a:ext cx="363283" cy="263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+mj-lt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55%</a:t>
            </a:r>
            <a:endParaRPr lang="en-US" sz="1400" dirty="0">
              <a:latin typeface="+mj-lt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258923" y="5970766"/>
            <a:ext cx="564849" cy="381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+mj-lt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28</a:t>
            </a:r>
            <a:r>
              <a:rPr lang="en-US" sz="140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%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031214" y="2596413"/>
            <a:ext cx="1095271" cy="455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+mj-lt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17%</a:t>
            </a:r>
            <a:endParaRPr lang="en-US" sz="1400" dirty="0">
              <a:latin typeface="+mj-l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C57F0FD-FA0F-488A-9867-B741C21C2279}"/>
              </a:ext>
            </a:extLst>
          </p:cNvPr>
          <p:cNvSpPr txBox="1"/>
          <p:nvPr/>
        </p:nvSpPr>
        <p:spPr>
          <a:xfrm>
            <a:off x="11053544" y="4395488"/>
            <a:ext cx="10547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Услуги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7AE6101-BABA-48FF-93EE-FB2B1F323661}"/>
              </a:ext>
            </a:extLst>
          </p:cNvPr>
          <p:cNvSpPr txBox="1"/>
          <p:nvPr/>
        </p:nvSpPr>
        <p:spPr>
          <a:xfrm>
            <a:off x="8490857" y="4828430"/>
            <a:ext cx="17562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Промышленность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CEB3322-9CF5-44B2-89F8-9BF6E2CA4936}"/>
              </a:ext>
            </a:extLst>
          </p:cNvPr>
          <p:cNvSpPr txBox="1"/>
          <p:nvPr/>
        </p:nvSpPr>
        <p:spPr>
          <a:xfrm>
            <a:off x="8918002" y="3259737"/>
            <a:ext cx="147110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/>
              <a:t>Сельское хозяйство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36358"/>
            <a:ext cx="125889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Природные чудеса и культурные объекты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498765"/>
            <a:ext cx="2804755" cy="426244"/>
          </a:xfrm>
          <a:prstGeom prst="roundRect">
            <a:avLst>
              <a:gd name="adj" fmla="val 6386"/>
            </a:avLst>
          </a:prstGeom>
          <a:solidFill>
            <a:srgbClr val="3D4D00"/>
          </a:solidFill>
          <a:ln/>
        </p:spPr>
      </p:sp>
      <p:sp>
        <p:nvSpPr>
          <p:cNvPr id="4" name="Text 2"/>
          <p:cNvSpPr/>
          <p:nvPr/>
        </p:nvSpPr>
        <p:spPr>
          <a:xfrm>
            <a:off x="929878" y="2566749"/>
            <a:ext cx="253257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ДОСТОПРИМЕЧАТЕЛЬНОСТИ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180159"/>
            <a:ext cx="2994184" cy="185046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3790" y="5314117"/>
            <a:ext cx="340102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Водопад Малетсунианэ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93790" y="5804535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Один из высочайших водопадов Африки — 192 м. Место для рекордных прыжков с тросом.</a:t>
            </a:r>
            <a:endParaRPr lang="en-US" sz="17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3180159"/>
            <a:ext cx="2994184" cy="185046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35893" y="5314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Тхаба-Бозиу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5804535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Неприступная горная крепость — сердце нации басото. Здесь правил и похоронен король Мошешше I.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3180159"/>
            <a:ext cx="2994184" cy="185046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677995" y="5314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Перевал Сани</a:t>
            </a:r>
            <a:endParaRPr lang="en-US" sz="2200" dirty="0"/>
          </a:p>
        </p:txBody>
      </p:sp>
      <p:sp>
        <p:nvSpPr>
          <p:cNvPr id="13" name="Text 8"/>
          <p:cNvSpPr/>
          <p:nvPr/>
        </p:nvSpPr>
        <p:spPr>
          <a:xfrm>
            <a:off x="9677995" y="5804535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Самый высокий автомобильный перевал в Южной Африке (2 874 м). Захватывающая горная дорога.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1049" y="648414"/>
            <a:ext cx="7601902" cy="1376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Приключения высоко в горах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771049" y="2346127"/>
            <a:ext cx="2872859" cy="409932"/>
          </a:xfrm>
          <a:prstGeom prst="roundRect">
            <a:avLst>
              <a:gd name="adj" fmla="val 6449"/>
            </a:avLst>
          </a:prstGeom>
          <a:solidFill>
            <a:srgbClr val="3D4D00"/>
          </a:solidFill>
          <a:ln/>
        </p:spPr>
      </p:sp>
      <p:sp>
        <p:nvSpPr>
          <p:cNvPr id="5" name="Text 2"/>
          <p:cNvSpPr/>
          <p:nvPr/>
        </p:nvSpPr>
        <p:spPr>
          <a:xfrm>
            <a:off x="903208" y="2412206"/>
            <a:ext cx="2608540" cy="2777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ТУРИСТИЧЕСКИЙ ПОТЕНЦИАЛ</a:t>
            </a:r>
            <a:endParaRPr lang="en-US" sz="13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1049" y="2996684"/>
            <a:ext cx="440531" cy="44053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78994" y="3072408"/>
            <a:ext cx="2753678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Конный туризм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1478994" y="3544967"/>
            <a:ext cx="6893957" cy="694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Пони-треккинг по горным тропам на знаменитых лошадях породы </a:t>
            </a:r>
            <a:r>
              <a:rPr lang="en-US" sz="1700" i="1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басото</a:t>
            </a: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визитная карточка страны.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1049" y="4667488"/>
            <a:ext cx="440531" cy="44053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78994" y="4743212"/>
            <a:ext cx="2753678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Горные лыжи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1478994" y="5215771"/>
            <a:ext cx="6893957" cy="694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Африфоски — единственный горнолыжный курорт на всём Африканском континенте к югу от Сахары.</a:t>
            </a:r>
            <a:endParaRPr lang="en-US" sz="1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1049" y="6338292"/>
            <a:ext cx="440531" cy="44053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78994" y="6414016"/>
            <a:ext cx="3303865" cy="344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Экотуризм и треккинг</a:t>
            </a:r>
            <a:endParaRPr lang="en-US" sz="2150" dirty="0"/>
          </a:p>
        </p:txBody>
      </p:sp>
      <p:sp>
        <p:nvSpPr>
          <p:cNvPr id="14" name="Text 8"/>
          <p:cNvSpPr/>
          <p:nvPr/>
        </p:nvSpPr>
        <p:spPr>
          <a:xfrm>
            <a:off x="1478994" y="6886575"/>
            <a:ext cx="6893957" cy="694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Нетронутые горные пейзажи, пещеры с наскальной живописью и традиционные </a:t>
            </a:r>
            <a:r>
              <a:rPr lang="en-US" sz="17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деревни</a:t>
            </a: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</a:t>
            </a:r>
            <a:r>
              <a:rPr lang="ru-RU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мечта </a:t>
            </a:r>
            <a:r>
              <a:rPr lang="en-US" sz="1700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экотуристов</a:t>
            </a:r>
            <a:r>
              <a:rPr lang="en-US" sz="17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64531"/>
            <a:ext cx="1122795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Современные вызовы и пути решения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26938"/>
            <a:ext cx="2546747" cy="426244"/>
          </a:xfrm>
          <a:prstGeom prst="roundRect">
            <a:avLst>
              <a:gd name="adj" fmla="val 6386"/>
            </a:avLst>
          </a:prstGeom>
          <a:solidFill>
            <a:srgbClr val="3D4D00"/>
          </a:solidFill>
          <a:ln/>
        </p:spPr>
      </p:sp>
      <p:sp>
        <p:nvSpPr>
          <p:cNvPr id="4" name="Text 2"/>
          <p:cNvSpPr/>
          <p:nvPr/>
        </p:nvSpPr>
        <p:spPr>
          <a:xfrm>
            <a:off x="929878" y="3194923"/>
            <a:ext cx="227457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АКТУАЛЬНЫЕ ПРОБЛЕМЫ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93790" y="3808333"/>
            <a:ext cx="6407944" cy="2456617"/>
          </a:xfrm>
          <a:prstGeom prst="roundRect">
            <a:avLst>
              <a:gd name="adj" fmla="val 5956"/>
            </a:avLst>
          </a:prstGeom>
          <a:solidFill>
            <a:srgbClr val="212121"/>
          </a:solidFill>
          <a:ln w="30480">
            <a:solidFill>
              <a:srgbClr val="59595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3310" y="3808333"/>
            <a:ext cx="121920" cy="2456617"/>
          </a:xfrm>
          <a:prstGeom prst="roundRect">
            <a:avLst>
              <a:gd name="adj" fmla="val 27907"/>
            </a:avLst>
          </a:prstGeom>
          <a:solidFill>
            <a:srgbClr val="DCFF50"/>
          </a:solidFill>
          <a:ln/>
        </p:spPr>
      </p:sp>
      <p:sp>
        <p:nvSpPr>
          <p:cNvPr id="7" name="Text 5"/>
          <p:cNvSpPr/>
          <p:nvPr/>
        </p:nvSpPr>
        <p:spPr>
          <a:xfrm>
            <a:off x="1142524" y="40656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ВИЧ/СПИД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2524" y="4556046"/>
            <a:ext cx="58019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Один из наиболее высоких показателей в мире — около 22% взрослого населения. Национальные программы при поддержке ВОЗ показывают прогресс.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3808333"/>
            <a:ext cx="6408063" cy="2456617"/>
          </a:xfrm>
          <a:prstGeom prst="roundRect">
            <a:avLst>
              <a:gd name="adj" fmla="val 5956"/>
            </a:avLst>
          </a:prstGeom>
          <a:solidFill>
            <a:srgbClr val="212121"/>
          </a:solidFill>
          <a:ln w="30480">
            <a:solidFill>
              <a:srgbClr val="59595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98067" y="3808333"/>
            <a:ext cx="121920" cy="2456617"/>
          </a:xfrm>
          <a:prstGeom prst="roundRect">
            <a:avLst>
              <a:gd name="adj" fmla="val 27907"/>
            </a:avLst>
          </a:prstGeom>
          <a:solidFill>
            <a:srgbClr val="DCFF50"/>
          </a:solidFill>
          <a:ln/>
        </p:spPr>
      </p:sp>
      <p:sp>
        <p:nvSpPr>
          <p:cNvPr id="11" name="Text 9"/>
          <p:cNvSpPr/>
          <p:nvPr/>
        </p:nvSpPr>
        <p:spPr>
          <a:xfrm>
            <a:off x="7777282" y="4065627"/>
            <a:ext cx="374118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Бедность и безработица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77282" y="4556046"/>
            <a:ext cx="58020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Более 50% населения живёт ниже черты бедности. Развитие текстильной промышленности и туризма — ключевые приоритеты.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528</Words>
  <Application>Microsoft Office PowerPoint</Application>
  <PresentationFormat>Произвольный</PresentationFormat>
  <Paragraphs>84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Roboto Mono Medium</vt:lpstr>
      <vt:lpstr>Arial</vt:lpstr>
      <vt:lpstr>Roboto</vt:lpstr>
      <vt:lpstr>-apple-system, BlinkMacSystemFont, Segoe UI, Roboto, Helvetica Neue, Arial, sans-serif Medium</vt:lpstr>
      <vt:lpstr>Calibri</vt:lpstr>
      <vt:lpstr>Calibri Light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student</cp:lastModifiedBy>
  <cp:revision>4</cp:revision>
  <dcterms:created xsi:type="dcterms:W3CDTF">2026-03-31T09:28:43Z</dcterms:created>
  <dcterms:modified xsi:type="dcterms:W3CDTF">2026-03-31T09:46:44Z</dcterms:modified>
</cp:coreProperties>
</file>